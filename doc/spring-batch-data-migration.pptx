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Spring Batch — фреймворк для надёжной пакетной обработки: транзакции, chunk processing, restart, retry/skip и метаданные запуска.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https://spring.io/projects/spring-batch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Job описывает работу, Step — её этап. JobInstance определяется именем Job и identifying-параметрами. JobExecution — конкретная попытка запуска.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https://docs.spring.io/spring-batch/reference/domain.html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TaskletStep повторяет execute до FINISHED или исключения. Chunk-oriented Step читает элементы, собирает commit interval и пишет Chunk в транзакции.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https://docs.spring.io/spring-batch/reference/step/tasklet.html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chunk-сценарии Reader выдаёт один item, Processor необязательно меняет его, Writer получает Chunk. После записи транзакция фиксируется; затем шаг продолжает чтение.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контракты Spring Batch. Приложение либо выбирает готовую реализацию, либо пишет собственный класс/адаптер. Восемь repairDefectXXJob используют Reader, Processor и Writer; общий repairSubsidiesJob остаётся Tasklet.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Параметр I — тип входного элемента, O — тип результата Processor/Writer. Исключение останавливает шаг или запускает skip/retry, если политика настроена.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Spring Batch предоставляет реализации для типовых источников. Бизнес-правила обычно остаются в собственном Processor, Writer или адаптере.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Параметры отделяют повторяемость от уникальности запуска. dataset — идентифицирующий параметр набора, runId — уникальный идентификатор HTTP-вызова.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https://docs.spring.io/spring-batch/reference/domain.html</a:t>
            </a:r>
          </a:p>
          <a:p>
            <a:r>
              <a:t>https://docs.spring.io/spring-batch/reference/job/running.html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Автозапуск выключен через spring.batch.job.enabled=false. Приложение сначала поднимает базы и служебные таблицы, затем выбранный Job стартует HTTP-вызовом.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https://docs.spring.io/spring-batch/reference/job/running.html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JobRepository сохраняет техническое состояние, но две разные базы не образуют одну общую транзакцию. Поэтому повтор должен быть идемпотентным, а ошибки — наблюдаемыми.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https://docs.spring.io/spring-batch/reference/domain.html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Объединён только Java-конфигурационный код. В контейнере Spring это восемь самостоятельных Job с разными именами, Step и JobExecution.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https://docs.spring.io/spring-batch/reference/domain.html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 восемь сценариев сейчас используют один технический шаблон: найти документы своего класса и заменить эталоном H2. Это осознанная первая версия, чтобы отделить инфраструктуру от правил исправления.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https://docs.spring.io/spring-batch/reference/step/chunk-oriented-processing.html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Файл mongo/SubsidyApplication.java. @Document — аннотация Spring Data; org.bson.Document — класс BSON, используемый отдельно при записи.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Company, Industry и PersonInCharge — вложенные records модели. Они не создают отдельные коллекции.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SubsidyApplicationMappingTests проверяет, что MappingMongoConverter сохраняет String и Decimal128 как разные типы.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readSource(jdbc) делает JOIN таблиц и формирует BSON-документы. Это сокращённый SQL фактического запроса.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Условие не приводит строку к числу. Исправленное значение берётся из H2; readSource оборачивает BigDecimal в Decimal128.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Фрагменты фактического Writer и SkipListener. replaceOne не использует upsert: отсутствующий документ не создаётся.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Версии зависимостей выбираются BOM Spring Boot. В проекте Boot 4.1.1 и Batch 6.0.5. Java 25 — выбор проекта, не минимальное требование Batch 6.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https://docs.spring.io/spring-boot/reference/io/spring-batch.html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Исторический пример. Объекты reader, processor, writer и skipListener передаются в builder. Этот вариант deprecated в Batch 6.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Эквивалентная структура актуального builder в DefectRepairJobsConfiguration.java. reader и skipListener здесь именованные сокращения объектов из конфигурации проекта.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демо JDBC-транзакция не откатывает записи standalone MongoDB.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рабочем сервисе retry обычно ограничивают временными ошибками доступа к данным.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Проверено по исходникам spring-batch-core 6.0.5. SimpleJobBuilder существует и не deprecated. JobBuilder.start(Step) возвращает SimpleJobBuilder.</a:t>
            </a:r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https://docs.spring.io/spring-batch/reference/api/org/springframework/batch/core/job/builder/JobBuilder.html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Источники:</a:t>
            </a:r>
          </a:p>
          <a:p>
            <a:r>
              <a:t>https://github.com/spring-projects/spring-batch/wiki/Spring-Batch-6.0-Migration-Guide</a:t>
            </a:r>
          </a:p>
          <a:p>
            <a:r>
              <a:t>https://docs.spring.io/spring-batch/reference/api/org/springframework/batch/core/step/builder/ChunkOrientedStepBuilder.html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Реализовано в BatchJobController и SubsidyApplicationReader. Перезапуск JVM очищает embedded базы и историю Batch.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Reader и Processor — step-scoped beans в DefectRepairJobsConfiguration. Прокси внедряются при создании контекста, реальные объекты появляются во время выполнения Step.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 subsidyReader.lastId хранит стабильный ID, а не позицию в списке. Reader загружает небольшой набор выбранного сценария в память.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Контроллер обрабатывает исключения и не объявляет throws Exception. Новый executionId приходит в ответе.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Интеграционный тест вызывает ошибку после успешного replaceOne для subsidyId=1108. Первый chunk кейса 08 содержит 10 документов: 8..908.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Тесты DemoSpringBatchApplicationTests проверяют реальные embedded H2 и MongoDB. Ошибка Writer внедряется только в тесте.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условия конкретной демонстрации, а не обещание общей транзакции между Mongo и H2.</a:t>
            </a:r>
          </a:p>
          <a:p>
            <a:endParaRPr/>
          </a:p>
          <a:p>
            <a:r>
              <a:t>Источники: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B2BFB-F7B1-CD15-CBD3-5B8F33BD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EA048-9A89-A647-8533-A07BBD8C6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75F42A-9FA3-53A5-69F2-A1C2441D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F604-7245-43CE-B5FC-3316EFA5190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ADB3D6-07A7-FF5A-8E6F-DDD377AB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16FF70-F0D4-3604-4CA0-C4F7E6DE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41FA-70FD-45E2-B7B4-B5B7FD179C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26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exportcenter.ru/browse/OOR-5996" TargetMode="External"/><Relationship Id="rId2" Type="http://schemas.openxmlformats.org/officeDocument/2006/relationships/hyperlink" Target="https://jira.exportcenter.ru/browse/OOR-598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A33AAF-DA68-41B8-A199-457FDFC7AFA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Spring Batch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67801B-9B1A-4E02-81E0-5876F65EF1AD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AC0D3F-A51F-4786-9E27-5016B07DC0BA}"/>
              </a:ext>
            </a:extLst>
          </p:cNvPr>
          <p:cNvSpPr>
            <a:spLocks noGrp="1"/>
          </p:cNvSpPr>
          <p:nvPr/>
        </p:nvSpPr>
        <p:spPr>
          <a:xfrm>
            <a:off x="904875" y="2990098"/>
            <a:ext cx="10572750" cy="877804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0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lang="ru-RU" sz="4050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Новый подход к </a:t>
            </a:r>
            <a:r>
              <a:rPr lang="ru-RU" sz="4050" b="1" i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datafix</a:t>
            </a:r>
            <a:r>
              <a:rPr lang="ru-RU" sz="4050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для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107995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8A56E3F-CCF6-1A73-BE84-AB40638ECA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9113" y="931103"/>
          <a:ext cx="10515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76865251"/>
                    </a:ext>
                  </a:extLst>
                </a:gridCol>
                <a:gridCol w="1979544">
                  <a:extLst>
                    <a:ext uri="{9D8B030D-6E8A-4147-A177-3AD203B41FA5}">
                      <a16:colId xmlns:a16="http://schemas.microsoft.com/office/drawing/2014/main" val="3162114002"/>
                    </a:ext>
                  </a:extLst>
                </a:gridCol>
                <a:gridCol w="3278256">
                  <a:extLst>
                    <a:ext uri="{9D8B030D-6E8A-4147-A177-3AD203B41FA5}">
                      <a16:colId xmlns:a16="http://schemas.microsoft.com/office/drawing/2014/main" val="38804067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434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Инструмент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Технологии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76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Датафикс</a:t>
                      </a:r>
                      <a:endParaRPr lang="en-US" dirty="0"/>
                    </a:p>
                    <a:p>
                      <a:r>
                        <a:rPr lang="en-US" dirty="0">
                          <a:hlinkClick r:id="rId2"/>
                        </a:rPr>
                        <a:t>https://jira.exportcenter.ru/browse/OOR-5986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  <a:r>
                        <a:rPr lang="ru-RU" dirty="0"/>
                        <a:t>-скрипт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Эффективен для небольших исправлений в одной БД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Ручной запуск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94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B</a:t>
                      </a:r>
                      <a:r>
                        <a:rPr lang="en-US" dirty="0"/>
                        <a:t>PMN-</a:t>
                      </a:r>
                      <a:r>
                        <a:rPr lang="ru-RU" dirty="0" err="1"/>
                        <a:t>m</a:t>
                      </a:r>
                      <a:r>
                        <a:rPr lang="en-US" dirty="0" err="1"/>
                        <a:t>igration</a:t>
                      </a:r>
                      <a:endParaRPr lang="en-US" dirty="0"/>
                    </a:p>
                    <a:p>
                      <a:r>
                        <a:rPr lang="en-US" dirty="0">
                          <a:hlinkClick r:id="rId3"/>
                        </a:rPr>
                        <a:t>https://jira.exportcenter.ru/browse/OOR-5996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Java, Spring-Batch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Запуск через </a:t>
                      </a:r>
                      <a:r>
                        <a:rPr lang="ru-RU" dirty="0" err="1"/>
                        <a:t>пайплайн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Ограниченная функциональность в рамках разработанной функциональности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1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E</a:t>
                      </a:r>
                      <a:r>
                        <a:rPr lang="en-US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Подходит для большого объема данных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Порог входа </a:t>
                      </a:r>
                      <a:r>
                        <a:rPr lang="en-US" dirty="0"/>
                        <a:t>java-</a:t>
                      </a:r>
                      <a:r>
                        <a:rPr lang="en-US" dirty="0" err="1"/>
                        <a:t>р</a:t>
                      </a:r>
                      <a:r>
                        <a:rPr lang="ru-RU" dirty="0" err="1"/>
                        <a:t>азработчиков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48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 </a:t>
                      </a:r>
                      <a:r>
                        <a:rPr lang="ru-RU" dirty="0" err="1"/>
                        <a:t>A</a:t>
                      </a:r>
                      <a:r>
                        <a:rPr lang="en-US" dirty="0"/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Понятный подход для </a:t>
                      </a:r>
                      <a:r>
                        <a:rPr lang="ru-RU" dirty="0" err="1"/>
                        <a:t>ja</a:t>
                      </a:r>
                      <a:r>
                        <a:rPr lang="en-US" dirty="0" err="1"/>
                        <a:t>va-р</a:t>
                      </a:r>
                      <a:r>
                        <a:rPr lang="ru-RU" dirty="0" err="1"/>
                        <a:t>азработчика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</a:t>
                      </a:r>
                      <a:r>
                        <a:rPr lang="ru-RU" dirty="0" err="1"/>
                        <a:t>A</a:t>
                      </a:r>
                      <a:r>
                        <a:rPr lang="en-US" dirty="0"/>
                        <a:t>PI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ф</a:t>
                      </a:r>
                      <a:r>
                        <a:rPr lang="ru-RU" dirty="0" err="1"/>
                        <a:t>ункционирует</a:t>
                      </a:r>
                      <a:r>
                        <a:rPr lang="ru-RU" dirty="0"/>
                        <a:t> метод </a:t>
                      </a:r>
                      <a:r>
                        <a:rPr lang="en-US" dirty="0" err="1"/>
                        <a:t>д</a:t>
                      </a:r>
                      <a:r>
                        <a:rPr lang="ru-RU" dirty="0"/>
                        <a:t>ля устранения некорректной работы сервиса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91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Spring-batch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Java, Spring-Batch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dirty="0"/>
                        <a:t>Запуск через </a:t>
                      </a:r>
                      <a:r>
                        <a:rPr lang="ru-RU" dirty="0" err="1"/>
                        <a:t>пайплайн</a:t>
                      </a: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dirty="0"/>
                        <a:t>Понятный подход для </a:t>
                      </a:r>
                      <a:r>
                        <a:rPr lang="ru-RU" dirty="0" err="1"/>
                        <a:t>ja</a:t>
                      </a:r>
                      <a:r>
                        <a:rPr lang="en-US" dirty="0" err="1"/>
                        <a:t>va-р</a:t>
                      </a:r>
                      <a:r>
                        <a:rPr lang="ru-RU" dirty="0" err="1"/>
                        <a:t>азработчика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62471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248F9D6-1057-08F8-589A-E333B433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905"/>
            <a:ext cx="10515600" cy="666958"/>
          </a:xfrm>
        </p:spPr>
        <p:txBody>
          <a:bodyPr>
            <a:normAutofit/>
          </a:bodyPr>
          <a:lstStyle/>
          <a:p>
            <a:r>
              <a:rPr lang="ru-RU" sz="2800" dirty="0"/>
              <a:t>Инструменты для реализации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701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5EC79FD-BB56-4E6B-9D83-097671F99582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Зачем нужен Spring Batch и его место в экосистеме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9187B6-F199-4757-BA5B-8D4ABA57E502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571A67-1BE6-4F18-8A80-A44DEA0C03A4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667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F5BEFA-6F2E-4F8C-98CD-EB4D50033114}"/>
              </a:ext>
            </a:extLst>
          </p:cNvPr>
          <p:cNvSpPr>
            <a:spLocks noGrp="1"/>
          </p:cNvSpPr>
          <p:nvPr/>
        </p:nvSpPr>
        <p:spPr>
          <a:xfrm>
            <a:off x="1190625" y="152400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Большой объём данных обрабатывается предсказуемыми порциями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4AAAB5-17EF-4FAB-9B68-37071061A1B5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2667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338844-4949-41EE-A0F7-324216A8AF0A}"/>
              </a:ext>
            </a:extLst>
          </p:cNvPr>
          <p:cNvSpPr>
            <a:spLocks noGrp="1"/>
          </p:cNvSpPr>
          <p:nvPr/>
        </p:nvSpPr>
        <p:spPr>
          <a:xfrm>
            <a:off x="1190625" y="220980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Долгая операция получает статус, счётчики и историю выполнения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B333928-369D-411A-8774-E53DD86B03FB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2667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3FC681F-22AE-4DE6-91DA-FFC61A7F5A8B}"/>
              </a:ext>
            </a:extLst>
          </p:cNvPr>
          <p:cNvSpPr>
            <a:spLocks noGrp="1"/>
          </p:cNvSpPr>
          <p:nvPr/>
        </p:nvSpPr>
        <p:spPr>
          <a:xfrm>
            <a:off x="1190625" y="289560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Сбой можно возобновить с сохранённой точки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6C31CD-DEF1-44E7-81E9-90E551EFAC2D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2667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3D0B0F1-CF3E-4FEA-9B8C-7C8EBA053206}"/>
              </a:ext>
            </a:extLst>
          </p:cNvPr>
          <p:cNvSpPr>
            <a:spLocks noGrp="1"/>
          </p:cNvSpPr>
          <p:nvPr/>
        </p:nvSpPr>
        <p:spPr>
          <a:xfrm>
            <a:off x="1190625" y="358140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Источники и приёмники могут быть разными: JDBC, файл, MongoDB, Kafka</a:t>
            </a:r>
          </a:p>
        </p:txBody>
      </p:sp>
    </p:spTree>
    <p:extLst>
      <p:ext uri="{BB962C8B-B14F-4D97-AF65-F5344CB8AC3E}">
        <p14:creationId xmlns:p14="http://schemas.microsoft.com/office/powerpoint/2010/main" val="109400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6397835-FA38-43E5-B0F2-149327595715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Архитектура: Job, Step и Execution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219806-6CF4-497C-A590-68C748B631E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BBF6B-415A-412B-8D72-955AF7BA515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Job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D0AE64-75AC-4494-993F-9CCA4158CDF8}"/>
              </a:ext>
            </a:extLst>
          </p:cNvPr>
          <p:cNvSpPr>
            <a:spLocks noGrp="1"/>
          </p:cNvSpPr>
          <p:nvPr/>
        </p:nvSpPr>
        <p:spPr>
          <a:xfrm>
            <a:off x="3905250" y="16192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логическая работа: repairSubsidiesJob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B6DBE11-7224-44D0-8A51-6D1856D4830F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Step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B19652-F9BA-45D0-B3AF-5501BEEACDF4}"/>
              </a:ext>
            </a:extLst>
          </p:cNvPr>
          <p:cNvSpPr>
            <a:spLocks noGrp="1"/>
          </p:cNvSpPr>
          <p:nvPr/>
        </p:nvSpPr>
        <p:spPr>
          <a:xfrm>
            <a:off x="3905250" y="23431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один этап: Tasklet или Chunk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CF70D4-099D-4328-956D-1BBF648908EC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JobInstance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E7DC08-1809-48B5-B8FA-C03040995E76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Job + identifying JobParameters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024567-E5ED-40C0-9C78-02A4FA9CEB32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JobExecution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83DC18-48CA-4A1F-94BD-8B833BE1367E}"/>
              </a:ext>
            </a:extLst>
          </p:cNvPr>
          <p:cNvSpPr>
            <a:spLocks noGrp="1"/>
          </p:cNvSpPr>
          <p:nvPr/>
        </p:nvSpPr>
        <p:spPr>
          <a:xfrm>
            <a:off x="3905250" y="37909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одна попытка с BatchStatus и ExitStatus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4E2CCD-6AD7-4CC5-9390-B7991EA70C8B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StepExecution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140BE1-F956-4689-B0B9-E41BC3848A8A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счётчики read/write/skip и ExecutionContext</a:t>
            </a:r>
          </a:p>
        </p:txBody>
      </p:sp>
    </p:spTree>
    <p:extLst>
      <p:ext uri="{BB962C8B-B14F-4D97-AF65-F5344CB8AC3E}">
        <p14:creationId xmlns:p14="http://schemas.microsoft.com/office/powerpoint/2010/main" val="15790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F8EB91-3EF4-4209-9B8B-2A70963B1E35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Два типа Step: Tasklet и Chunk-oriented Step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6BC09F-841D-43A6-B8A9-C6ABB8CE1B7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7A861A-B1E4-464D-859E-9D03470C130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Tasklet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908198-7BB9-48DE-A0C5-6C4393FE0D5E}"/>
              </a:ext>
            </a:extLst>
          </p:cNvPr>
          <p:cNvSpPr>
            <a:spLocks noGrp="1"/>
          </p:cNvSpPr>
          <p:nvPr/>
        </p:nvSpPr>
        <p:spPr>
          <a:xfrm>
            <a:off x="3905250" y="16192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цельная операция: SQL, процедура, очистка, сверка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A43365-1881-4AC7-A68B-80FCBEC81EA2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Tasklet API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D81A0A-5076-45B0-B9DC-D20522D7498D}"/>
              </a:ext>
            </a:extLst>
          </p:cNvPr>
          <p:cNvSpPr>
            <a:spLocks noGrp="1"/>
          </p:cNvSpPr>
          <p:nvPr/>
        </p:nvSpPr>
        <p:spPr>
          <a:xfrm>
            <a:off x="3905250" y="23431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execute(StepContribution, ChunkContext)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0F9EA1-B7BD-4C9A-9DC8-0846B6F3EF91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Chunk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1FA7DA-F256-4F55-9023-E3B05D9B6926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ItemReader → ItemProcessor → ItemWriter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D364EE-6929-482E-AE56-B324E21BB1AC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Commit interval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19E2D2-D9C2-46E1-A6D6-DA14674AC140}"/>
              </a:ext>
            </a:extLst>
          </p:cNvPr>
          <p:cNvSpPr>
            <a:spLocks noGrp="1"/>
          </p:cNvSpPr>
          <p:nvPr/>
        </p:nvSpPr>
        <p:spPr>
          <a:xfrm>
            <a:off x="3905250" y="37909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сколько элементов входит в одну транзакцию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569134-76EB-421F-B61D-3A90E1765065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В demo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6CBD0C-DC70-409E-8645-980FD04EDDF8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repairSubsidiesJob сейчас реализован как Tasklet</a:t>
            </a:r>
          </a:p>
        </p:txBody>
      </p:sp>
    </p:spTree>
    <p:extLst>
      <p:ext uri="{BB962C8B-B14F-4D97-AF65-F5344CB8AC3E}">
        <p14:creationId xmlns:p14="http://schemas.microsoft.com/office/powerpoint/2010/main" val="31082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EFE6F48-7B04-4180-8A42-8D3C0B3E8C71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Chunk: что происходит внутри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58DC88-F090-4149-A859-8D8BAFC01E5D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944D7C-CCD5-403A-B36E-E37488C45212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ItemReader&lt;I&gt;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FD04A0-9BC8-48FB-ACD1-732DFCFA07CF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75733D-D1DF-4AC4-A4C9-72CA4261007B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ItemProcessor&lt;I,O&gt;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D19FE4-DADA-492E-A357-6B6511822F2D}"/>
              </a:ext>
            </a:extLst>
          </p:cNvPr>
          <p:cNvSpPr>
            <a:spLocks noGrp="1"/>
          </p:cNvSpPr>
          <p:nvPr/>
        </p:nvSpPr>
        <p:spPr>
          <a:xfrm>
            <a:off x="8143875" y="1809750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D6C57F-6BE4-435C-BB88-595B02CC4F55}"/>
              </a:ext>
            </a:extLst>
          </p:cNvPr>
          <p:cNvSpPr>
            <a:spLocks noGrp="1"/>
          </p:cNvSpPr>
          <p:nvPr/>
        </p:nvSpPr>
        <p:spPr>
          <a:xfrm>
            <a:off x="9096375" y="180975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ItemWriter&lt;O&gt;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726B191-56E3-4041-97B8-652E1E3F3E43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read()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ED30B3-1782-4C35-BA31-78A58417D798}"/>
              </a:ext>
            </a:extLst>
          </p:cNvPr>
          <p:cNvSpPr>
            <a:spLocks noGrp="1"/>
          </p:cNvSpPr>
          <p:nvPr/>
        </p:nvSpPr>
        <p:spPr>
          <a:xfrm>
            <a:off x="4905375" y="285750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process(item)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C2CC9DA-A97D-4A58-ACD5-3E40FF566F4B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write(chunk)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5794D3-159D-494A-BA72-64BCCA8DC476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4000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commit interval = 100</a:t>
            </a:r>
          </a:p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транзакция + checkpoint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7E058E-76A2-422F-A9E3-126029405FC9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Processor может вернуть null: item отфильтрован и в Writer не попадёт.</a:t>
            </a:r>
          </a:p>
        </p:txBody>
      </p:sp>
    </p:spTree>
    <p:extLst>
      <p:ext uri="{BB962C8B-B14F-4D97-AF65-F5344CB8AC3E}">
        <p14:creationId xmlns:p14="http://schemas.microsoft.com/office/powerpoint/2010/main" val="129828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BC8BB4-0193-483E-BBD6-ED326BBBF4C3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ItemReader, ItemProcessor, ItemWriter — это интерфейсы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3D398A-92B5-4FE5-9035-82A4C75D5CC6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9CBD26-95B7-424D-9835-280C445120F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37147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A6B482-B748-4405-B3F4-59C8140E95F1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03251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interface ItemReader&lt;I&gt;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I read() throws Exception;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interface ItemProcessor&lt;I,O&gt;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O process(I item) throws Exception; // null = filter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interface ItemWriter&lt;O&gt;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void write(Chunk&lt;? extends O&gt; chunk) throws Exception;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20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8373386-0EAA-4449-A4B5-B426B899147B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 контракта интерфейсов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C7449A4-835A-4798-991D-EB427496AAA4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9DCEBC-E4DB-4D04-9D92-9FEC43503AFE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864B09-843E-48EE-9BA2-058633579C1F}"/>
              </a:ext>
            </a:extLst>
          </p:cNvPr>
          <p:cNvSpPr>
            <a:spLocks noGrp="1"/>
          </p:cNvSpPr>
          <p:nvPr/>
        </p:nvSpPr>
        <p:spPr>
          <a:xfrm>
            <a:off x="3905250" y="15716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тип, который выдаёт Reader: SubsidyRow или Document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D713BC-6DFE-480C-A0CB-BD84ACF7AE61}"/>
              </a:ext>
            </a:extLst>
          </p:cNvPr>
          <p:cNvSpPr>
            <a:spLocks noGrp="1"/>
          </p:cNvSpPr>
          <p:nvPr/>
        </p:nvSpPr>
        <p:spPr>
          <a:xfrm>
            <a:off x="762000" y="22955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O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ECCC0A-132B-48F8-9808-D09D25B53CE6}"/>
              </a:ext>
            </a:extLst>
          </p:cNvPr>
          <p:cNvSpPr>
            <a:spLocks noGrp="1"/>
          </p:cNvSpPr>
          <p:nvPr/>
        </p:nvSpPr>
        <p:spPr>
          <a:xfrm>
            <a:off x="3905250" y="22955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тип после Processor: CorrectedDocument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21C2BC6-2B3A-4112-986B-35A1F00ACCB2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read()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4C892F-7BAD-4385-8F0F-3A5488BF8429}"/>
              </a:ext>
            </a:extLst>
          </p:cNvPr>
          <p:cNvSpPr>
            <a:spLocks noGrp="1"/>
          </p:cNvSpPr>
          <p:nvPr/>
        </p:nvSpPr>
        <p:spPr>
          <a:xfrm>
            <a:off x="3905250" y="30194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возвращает один item; null означает конец входа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9EC3B2-ACB6-4D6A-8287-BFFBE5E0893F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process(I item)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C508F0-BC9C-4847-9E22-F4C835470604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проверяет, нормализует или преобразует item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454FC1-6FBE-421C-AC09-07FB60E1E9C3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write(Chunk&lt;? extends O&gt;)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E89E35-4BD9-4142-9BCE-B09BA6AC34B5}"/>
              </a:ext>
            </a:extLst>
          </p:cNvPr>
          <p:cNvSpPr>
            <a:spLocks noGrp="1"/>
          </p:cNvSpPr>
          <p:nvPr/>
        </p:nvSpPr>
        <p:spPr>
          <a:xfrm>
            <a:off x="3905250" y="44672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получает пачку элементов для записи</a:t>
            </a:r>
          </a:p>
        </p:txBody>
      </p:sp>
    </p:spTree>
    <p:extLst>
      <p:ext uri="{BB962C8B-B14F-4D97-AF65-F5344CB8AC3E}">
        <p14:creationId xmlns:p14="http://schemas.microsoft.com/office/powerpoint/2010/main" val="148534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95DDF7-FD5E-48CF-A3ED-76C2528C68D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Готовые реализации и что пишем сами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418BFF-117B-4AED-A63A-0283053FEFF8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BD1B71-25AE-4C54-8944-EF6BF32F56B6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Reader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2FAAF6-2892-4E54-BF96-15830945C8F6}"/>
              </a:ext>
            </a:extLst>
          </p:cNvPr>
          <p:cNvSpPr>
            <a:spLocks noGrp="1"/>
          </p:cNvSpPr>
          <p:nvPr/>
        </p:nvSpPr>
        <p:spPr>
          <a:xfrm>
            <a:off x="3905250" y="15716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FlatFileItemReader, JdbcCursorItemReader, JpaPagingItemReader, KafkaItemReader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E55923-1500-4094-8E20-8969D4711D5C}"/>
              </a:ext>
            </a:extLst>
          </p:cNvPr>
          <p:cNvSpPr>
            <a:spLocks noGrp="1"/>
          </p:cNvSpPr>
          <p:nvPr/>
        </p:nvSpPr>
        <p:spPr>
          <a:xfrm>
            <a:off x="762000" y="22955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Processor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0F489C-D1FE-4E52-853B-5A6803221A3E}"/>
              </a:ext>
            </a:extLst>
          </p:cNvPr>
          <p:cNvSpPr>
            <a:spLocks noGrp="1"/>
          </p:cNvSpPr>
          <p:nvPr/>
        </p:nvSpPr>
        <p:spPr>
          <a:xfrm>
            <a:off x="3905250" y="22955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валидация, маппинг DTO→Entity, нормализация, фильтрация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C65581-B2C2-4348-B2A0-4875104CEEBF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Writer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DC1021-5320-42C2-8826-E256A1DD9896}"/>
              </a:ext>
            </a:extLst>
          </p:cNvPr>
          <p:cNvSpPr>
            <a:spLocks noGrp="1"/>
          </p:cNvSpPr>
          <p:nvPr/>
        </p:nvSpPr>
        <p:spPr>
          <a:xfrm>
            <a:off x="3905250" y="30194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JdbcBatchItemWriter, ItemWriterAdapter, CompositeItemWriter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093D65-4BF9-419C-98D6-88F85E1732CD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Наш код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C27AE8-1AC0-4E71-BFF3-83B77D6A6982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если источник — embedded Mongo или особый формат, нужен адаптер</a:t>
            </a:r>
          </a:p>
        </p:txBody>
      </p:sp>
    </p:spTree>
    <p:extLst>
      <p:ext uri="{BB962C8B-B14F-4D97-AF65-F5344CB8AC3E}">
        <p14:creationId xmlns:p14="http://schemas.microsoft.com/office/powerpoint/2010/main" val="200144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E383A1-FDD3-49AC-8206-9E3CA3CCE4F8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 запуска: JobInstance и JobExecution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FB044B-9A5C-49B5-9137-27751AD3F209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272526-40EA-41FD-8C71-9A4D14F42D84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dataset=subsidies-v1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4A7406-AA10-4D62-9254-3F192A6D2D91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identifying: один и тот же набор данных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2991B5-B28B-4CAC-A765-96079A8784F6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runId=...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E79B94-8D2B-4FFF-B6A4-BA7414EC8121}"/>
              </a:ext>
            </a:extLst>
          </p:cNvPr>
          <p:cNvSpPr>
            <a:spLocks noGrp="1"/>
          </p:cNvSpPr>
          <p:nvPr/>
        </p:nvSpPr>
        <p:spPr>
          <a:xfrm>
            <a:off x="3905250" y="24384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identifying: новый запуск получает новый JobInstance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6EAD4BF-54D2-4898-BC39-3796515CD5FE}"/>
              </a:ext>
            </a:extLst>
          </p:cNvPr>
          <p:cNvSpPr>
            <a:spLocks noGrp="1"/>
          </p:cNvSpPr>
          <p:nvPr/>
        </p:nvSpPr>
        <p:spPr>
          <a:xfrm>
            <a:off x="762000" y="31623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JobInstance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3A06DCA-6BCF-46C7-821D-17101DAAD778}"/>
              </a:ext>
            </a:extLst>
          </p:cNvPr>
          <p:cNvSpPr>
            <a:spLocks noGrp="1"/>
          </p:cNvSpPr>
          <p:nvPr/>
        </p:nvSpPr>
        <p:spPr>
          <a:xfrm>
            <a:off x="3905250" y="31623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имя repairSubsidiesJob + identifying parameters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28A0CFF-51C5-4054-8087-1DF93D2F12C1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JobExecution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DB8A3C3-27A7-4B9C-9638-814E064D35CD}"/>
              </a:ext>
            </a:extLst>
          </p:cNvPr>
          <p:cNvSpPr>
            <a:spLocks noGrp="1"/>
          </p:cNvSpPr>
          <p:nvPr/>
        </p:nvSpPr>
        <p:spPr>
          <a:xfrm>
            <a:off x="3905250" y="38862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конкретный запуск со статусом и executionId</a:t>
            </a:r>
          </a:p>
        </p:txBody>
      </p:sp>
    </p:spTree>
    <p:extLst>
      <p:ext uri="{BB962C8B-B14F-4D97-AF65-F5344CB8AC3E}">
        <p14:creationId xmlns:p14="http://schemas.microsoft.com/office/powerpoint/2010/main" val="79931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8007E37-8AD0-457D-9FD0-482F20FD2AE8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запустить конкретный Job из 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1B16DB-B18B-45AD-968E-8C9503090492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B3D1A2-A5F6-45A0-BD6E-E5CA2E14D73C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1. Запустить приложение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059DBD-48EC-4990-8D9E-C8BA4139D6D0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810500" cy="7810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E37D11-0457-4502-94B5-C0400E3F7008}"/>
              </a:ext>
            </a:extLst>
          </p:cNvPr>
          <p:cNvSpPr>
            <a:spLocks noGrp="1"/>
          </p:cNvSpPr>
          <p:nvPr/>
        </p:nvSpPr>
        <p:spPr>
          <a:xfrm>
            <a:off x="1028700" y="2181225"/>
            <a:ext cx="72771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mvn spring-boot:run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0AE729-3A92-4942-A4D7-0BB9A41ACC86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2. Запустить repairSubsidiesJob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C81A907-BCCC-4FE3-8E3E-871BE63BAF4E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0668000" cy="80010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8EE4F0-47AD-4F4C-8357-F68153F74A4E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101346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curl.exe -X POST http://localhost:8081/api/batch/jobs/repair-subsidies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5511F0-1C31-4158-BFE3-37736E265381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3. Проверить executionId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839D06-9EE0-4A31-9452-AD7A8F7A8757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A8076F-BFFB-468A-A263-23A6E57DA6FE}"/>
              </a:ext>
            </a:extLst>
          </p:cNvPr>
          <p:cNvSpPr>
            <a:spLocks noGrp="1"/>
          </p:cNvSpPr>
          <p:nvPr/>
        </p:nvSpPr>
        <p:spPr>
          <a:xfrm>
            <a:off x="1028700" y="5562600"/>
            <a:ext cx="10134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curl.exe http://localhost:8081/api/batch/executions/{executionId}</a:t>
            </a:r>
          </a:p>
        </p:txBody>
      </p:sp>
    </p:spTree>
    <p:extLst>
      <p:ext uri="{BB962C8B-B14F-4D97-AF65-F5344CB8AC3E}">
        <p14:creationId xmlns:p14="http://schemas.microsoft.com/office/powerpoint/2010/main" val="173952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C1DF740-E997-4AE7-A3DF-52F2479C4F3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Restart, Retry, Skip и Listeners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BB62F7-60EE-4C3C-97A8-FFC578E2239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48916D-6B14-4457-B13E-7A47E8A09415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Restart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8FCC75-9023-48DE-98F7-8CC9E757FFAD}"/>
              </a:ext>
            </a:extLst>
          </p:cNvPr>
          <p:cNvSpPr>
            <a:spLocks noGrp="1"/>
          </p:cNvSpPr>
          <p:nvPr/>
        </p:nvSpPr>
        <p:spPr>
          <a:xfrm>
            <a:off x="3905250" y="15716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новая JobExecution продолжает по ExecutionContext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0D73AF-56E1-4670-A970-A6953803E77F}"/>
              </a:ext>
            </a:extLst>
          </p:cNvPr>
          <p:cNvSpPr>
            <a:spLocks noGrp="1"/>
          </p:cNvSpPr>
          <p:nvPr/>
        </p:nvSpPr>
        <p:spPr>
          <a:xfrm>
            <a:off x="762000" y="22955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Retry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510F57-F265-458F-9883-2270A0C712F4}"/>
              </a:ext>
            </a:extLst>
          </p:cNvPr>
          <p:cNvSpPr>
            <a:spLocks noGrp="1"/>
          </p:cNvSpPr>
          <p:nvPr/>
        </p:nvSpPr>
        <p:spPr>
          <a:xfrm>
            <a:off x="3905250" y="22955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повторить временную ошибку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192D5A-1082-4153-9E72-F0BFC2E02BE8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Skip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E85819C-4F70-4529-A300-873A6929C137}"/>
              </a:ext>
            </a:extLst>
          </p:cNvPr>
          <p:cNvSpPr>
            <a:spLocks noGrp="1"/>
          </p:cNvSpPr>
          <p:nvPr/>
        </p:nvSpPr>
        <p:spPr>
          <a:xfrm>
            <a:off x="3905250" y="30194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пропустить ожидаемую ошибку и учесть её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7F3368-0DF8-474B-9523-054DE9E5C433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Listener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0229A7-5E8E-4D4C-AA43-5106806B5429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логировать before/after/error и метрики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2A2690-173A-49B7-8B13-DFF64BC45D6A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Quarantine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45AD742-6938-44F0-8ACA-5A5F7EF52F51}"/>
              </a:ext>
            </a:extLst>
          </p:cNvPr>
          <p:cNvSpPr>
            <a:spLocks noGrp="1"/>
          </p:cNvSpPr>
          <p:nvPr/>
        </p:nvSpPr>
        <p:spPr>
          <a:xfrm>
            <a:off x="3905250" y="44672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сохранить проблемный документ для разбора</a:t>
            </a:r>
          </a:p>
        </p:txBody>
      </p:sp>
    </p:spTree>
    <p:extLst>
      <p:ext uri="{BB962C8B-B14F-4D97-AF65-F5344CB8AC3E}">
        <p14:creationId xmlns:p14="http://schemas.microsoft.com/office/powerpoint/2010/main" val="142546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128817-E6EB-442F-9898-92F6A31A9BD4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Почему восемь Job объединены в одном классе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965DA3-5B4D-42C5-8489-1C311B57F313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D935CA7-035F-4C42-ADC9-6A9B31CF05A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Один конфиг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DC73D0-D1D4-4FAC-8757-1EE469DBC20D}"/>
              </a:ext>
            </a:extLst>
          </p:cNvPr>
          <p:cNvSpPr>
            <a:spLocks noGrp="1"/>
          </p:cNvSpPr>
          <p:nvPr/>
        </p:nvSpPr>
        <p:spPr>
          <a:xfrm>
            <a:off x="3905250" y="16192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общая фабрика подключения H2, MongoTemplate и JobRepository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78058F-EB0F-458D-8315-66BCE5554BEC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Восемь Job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715640-1F1C-493D-9BED-54BC907EFD98}"/>
              </a:ext>
            </a:extLst>
          </p:cNvPr>
          <p:cNvSpPr>
            <a:spLocks noGrp="1"/>
          </p:cNvSpPr>
          <p:nvPr/>
        </p:nvSpPr>
        <p:spPr>
          <a:xfrm>
            <a:off x="3905250" y="23431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каждый выбирает свой остаток subsidyId % 100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769030-4126-4B0B-8739-64D2B49AB4BB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Отдельный запуск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BED9C6-9511-4A2A-ACF5-B8E5D559FB0A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свой JobInstance, status, counters и ExecutionContext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A34419-5C70-4C3F-8096-995A27B46701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Плюс обучения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1FFF2B1-7C45-4B38-AF0B-A2B308F44E35}"/>
              </a:ext>
            </a:extLst>
          </p:cNvPr>
          <p:cNvSpPr>
            <a:spLocks noGrp="1"/>
          </p:cNvSpPr>
          <p:nvPr/>
        </p:nvSpPr>
        <p:spPr>
          <a:xfrm>
            <a:off x="3905250" y="37909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легко сравнить политики и результаты в одной демонстрации</a:t>
            </a:r>
          </a:p>
        </p:txBody>
      </p:sp>
    </p:spTree>
    <p:extLst>
      <p:ext uri="{BB962C8B-B14F-4D97-AF65-F5344CB8AC3E}">
        <p14:creationId xmlns:p14="http://schemas.microsoft.com/office/powerpoint/2010/main" val="87259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91A207-EFF6-44AC-B151-6868D2A317DD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Они похожи по механике, но различаются по бизнес-правилу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561615-CA25-4674-9B8B-B06F43297925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6423EE-B8D8-48E5-954D-A3C6A94B6CE2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01–03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100D11-3F70-4BC9-A228-EBEBC7D4CC69}"/>
              </a:ext>
            </a:extLst>
          </p:cNvPr>
          <p:cNvSpPr>
            <a:spLocks noGrp="1"/>
          </p:cNvSpPr>
          <p:nvPr/>
        </p:nvSpPr>
        <p:spPr>
          <a:xfrm>
            <a:off x="3905250" y="16192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строковые поля: trim, восстановление и сверка адресов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18CF10-A8C8-44CC-923C-B95432A6AFE8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04–05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6EAE1D-856A-4E6F-B9AD-CE6C41F92F1E}"/>
              </a:ext>
            </a:extLst>
          </p:cNvPr>
          <p:cNvSpPr>
            <a:spLocks noGrp="1"/>
          </p:cNvSpPr>
          <p:nvPr/>
        </p:nvSpPr>
        <p:spPr>
          <a:xfrm>
            <a:off x="3905250" y="23431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денежные поля: диапазоны, знак и точность Decimal128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A135304-6E50-40B3-AF2C-FBF5760FA4F8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06–07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E6B984-E252-42C4-B9C3-D424370BFBE5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ссылочная целостность: справочник отраслей и сотрудник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274818-7D48-49CD-89AC-9FB67C9E2194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04CBFC-6609-4135-AD22-F29E8B6BA283}"/>
              </a:ext>
            </a:extLst>
          </p:cNvPr>
          <p:cNvSpPr>
            <a:spLocks noGrp="1"/>
          </p:cNvSpPr>
          <p:nvPr/>
        </p:nvSpPr>
        <p:spPr>
          <a:xfrm>
            <a:off x="3905250" y="37909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тип данных: строка должна стать Decimal128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1A8396-ED22-4DD5-A894-239492EE1E97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Общее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53BEF5-344D-4DBD-B5BB-D8F3C0532A94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идемпотентная замена по стабильному subsidyId</a:t>
            </a:r>
          </a:p>
        </p:txBody>
      </p:sp>
    </p:spTree>
    <p:extLst>
      <p:ext uri="{BB962C8B-B14F-4D97-AF65-F5344CB8AC3E}">
        <p14:creationId xmlns:p14="http://schemas.microsoft.com/office/powerpoint/2010/main" val="1497592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66EE6D-C8E2-474F-B9B2-4B524A044486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Модель коллекции subsidy_applications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5D0D3C5-F84E-4887-B19B-6A4417E6F024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C1AD85-016F-4F96-8A73-25F279FFFE46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3337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7A6AE8-ED13-4EE6-8C0E-2E496241EB3F}"/>
              </a:ext>
            </a:extLst>
          </p:cNvPr>
          <p:cNvSpPr>
            <a:spLocks noGrp="1"/>
          </p:cNvSpPr>
          <p:nvPr/>
        </p:nvSpPr>
        <p:spPr>
          <a:xfrm>
            <a:off x="981075" y="1657350"/>
            <a:ext cx="10229850" cy="2952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@Document(collection = SubsidyApplication.COLLECTION)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record SubsidyApplication(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@MongoId String id,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String dataset, Integer schemaVersion, Long subsidyId,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Object requestedSubsidy, Decimal128 approvedSubsidy,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Company company, Industry industry,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PersonInCharge personInCharge)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public static final String COLLECTION = "subsidy_applications";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// Вложенные records показаны на следующем слайде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BD572E-E988-448E-9316-5F5A540B52A0}"/>
              </a:ext>
            </a:extLst>
          </p:cNvPr>
          <p:cNvSpPr>
            <a:spLocks noGrp="1"/>
          </p:cNvSpPr>
          <p:nvPr/>
        </p:nvSpPr>
        <p:spPr>
          <a:xfrm>
            <a:off x="714375" y="523875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@MongoId связывает id с BSON _id. Остальные имена полей совпадают с документом.</a:t>
            </a:r>
          </a:p>
        </p:txBody>
      </p:sp>
    </p:spTree>
    <p:extLst>
      <p:ext uri="{BB962C8B-B14F-4D97-AF65-F5344CB8AC3E}">
        <p14:creationId xmlns:p14="http://schemas.microsoft.com/office/powerpoint/2010/main" val="28417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97D810-A1A5-4AC4-8A00-433C27FA2592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Вложенные объекты внутри одного документа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002502-2079-467F-8796-59FAC95A805D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6441D6-A14C-469B-8222-6C0B09502339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23850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47C3F8-5274-418F-8CA8-0DBA7E25FD28}"/>
              </a:ext>
            </a:extLst>
          </p:cNvPr>
          <p:cNvSpPr>
            <a:spLocks noGrp="1"/>
          </p:cNvSpPr>
          <p:nvPr/>
        </p:nvSpPr>
        <p:spPr>
          <a:xfrm>
            <a:off x="981075" y="1657350"/>
            <a:ext cx="1022985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record Company(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@Field("id") Long sourceId, String title,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String legalAddress, String factAddress) {}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record Industry(@Field("id") Long sourceId, String name, String code) {}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record PersonInCharge(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@Field("id") Long sourceId, String name, String position, Long companyId) {}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EDDD2F-1EAE-4B89-AF39-6CCE04D3CA3F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company.id — ID компании из H2, personInCharge.companyId — её связь с сотрудником.</a:t>
            </a:r>
          </a:p>
        </p:txBody>
      </p:sp>
    </p:spTree>
    <p:extLst>
      <p:ext uri="{BB962C8B-B14F-4D97-AF65-F5344CB8AC3E}">
        <p14:creationId xmlns:p14="http://schemas.microsoft.com/office/powerpoint/2010/main" val="210585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8A7DD60-292B-4BAF-A940-1685A33249C8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Почему requestedSubsidy имеет тип Object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0959B9-37DE-47F2-BB78-977467E677E5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F567E1-7D1C-452A-8314-A1907F525BB6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Корректная сумма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6BE0B4-D6F1-4823-B6E2-95BE049EAED2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BSON Decimal128 читается как Decimal128.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8A6C44-9965-4A7C-B5F1-3A06B42A258A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Дефект 08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A95F817-E798-4DB5-93FD-89AF442EEB44}"/>
              </a:ext>
            </a:extLst>
          </p:cNvPr>
          <p:cNvSpPr>
            <a:spLocks noGrp="1"/>
          </p:cNvSpPr>
          <p:nvPr/>
        </p:nvSpPr>
        <p:spPr>
          <a:xfrm>
            <a:off x="3905250" y="22479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BSON String остаётся строкой, даже если текст похож на число.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0B3681-D1D1-43B5-AA3B-0825EACAFDB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Условие Processor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7D8DEA-7673-4A54-AB8D-9F333C235DBC}"/>
              </a:ext>
            </a:extLst>
          </p:cNvPr>
          <p:cNvSpPr>
            <a:spLocks noGrp="1"/>
          </p:cNvSpPr>
          <p:nvPr/>
        </p:nvSpPr>
        <p:spPr>
          <a:xfrm>
            <a:off x="3905250" y="29718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item.requestedSubsidy() instanceof String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2FFA5D-97A1-4F9D-9566-BCCD7632D006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Остальные поля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E0CE253-EFCA-40C0-9920-7981D32F1F11}"/>
              </a:ext>
            </a:extLst>
          </p:cNvPr>
          <p:cNvSpPr>
            <a:spLocks noGrp="1"/>
          </p:cNvSpPr>
          <p:nvPr/>
        </p:nvSpPr>
        <p:spPr>
          <a:xfrm>
            <a:off x="3905250" y="36957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approvedSubsidy — Decimal128, вложенные объекты — records.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A9E4F0D-3BBD-4334-BA6C-8582CD32C29F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Отсутствующий адрес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544360-401C-4403-A222-BB42F3404F03}"/>
              </a:ext>
            </a:extLst>
          </p:cNvPr>
          <p:cNvSpPr>
            <a:spLocks noGrp="1"/>
          </p:cNvSpPr>
          <p:nvPr/>
        </p:nvSpPr>
        <p:spPr>
          <a:xfrm>
            <a:off x="3905250" y="441960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company.legalAddress() возвращает null.</a:t>
            </a:r>
          </a:p>
        </p:txBody>
      </p:sp>
    </p:spTree>
    <p:extLst>
      <p:ext uri="{BB962C8B-B14F-4D97-AF65-F5344CB8AC3E}">
        <p14:creationId xmlns:p14="http://schemas.microsoft.com/office/powerpoint/2010/main" val="80333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29D776-0C5E-48BB-A5F1-0F71D91875AD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Эталон H2: поиск по subsidyId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3DB988-3455-48C5-9491-47D67571B92D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129CE8-B9F1-408B-ADDE-678CC8B4AABA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35242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54FFB5-7E8A-4729-BE64-F83D2F70132D}"/>
              </a:ext>
            </a:extLst>
          </p:cNvPr>
          <p:cNvSpPr>
            <a:spLocks noGrp="1"/>
          </p:cNvSpPr>
          <p:nvPr/>
        </p:nvSpPr>
        <p:spPr>
          <a:xfrm>
            <a:off x="981075" y="1704975"/>
            <a:ext cx="10229850" cy="3143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SELECT s.id, c.fact_address, c.legal_address, ...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FROM TEST.subsidy s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JOIN TEST.company c ON c.id = s.company_id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JOIN TEST.industry i ON i.id = s.industry_id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JOIN TEST.employee e ON e.id = s.person_in_charge_id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Индекс эталонов в памяти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expected.put(document.getLong("subsidyId"), document);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Поиск в Processor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Document source = expected.get(item.subsidyId());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2F5AB1-9A7C-465D-B0A5-A099DA866C3E}"/>
              </a:ext>
            </a:extLst>
          </p:cNvPr>
          <p:cNvSpPr>
            <a:spLocks noGrp="1"/>
          </p:cNvSpPr>
          <p:nvPr/>
        </p:nvSpPr>
        <p:spPr>
          <a:xfrm>
            <a:off x="714375" y="54292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Текущий код выбирает всю заявку по subsidyId. Адрес берёт JOIN компании из H2.</a:t>
            </a:r>
          </a:p>
        </p:txBody>
      </p:sp>
    </p:spTree>
    <p:extLst>
      <p:ext uri="{BB962C8B-B14F-4D97-AF65-F5344CB8AC3E}">
        <p14:creationId xmlns:p14="http://schemas.microsoft.com/office/powerpoint/2010/main" val="1780001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E7CDAB-2478-42DB-8F5B-FEA94D2DC3EE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Кейс 08: строка вместо BSON Decimal128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D27F68-2E80-479F-A084-97C82B6E837F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F741A9-2BD6-4B4C-AEE9-96FDF1B6E572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381375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2A346F-CCAE-4DCE-9932-8AF284E58A05}"/>
              </a:ext>
            </a:extLst>
          </p:cNvPr>
          <p:cNvSpPr>
            <a:spLocks noGrp="1"/>
          </p:cNvSpPr>
          <p:nvPr/>
        </p:nvSpPr>
        <p:spPr>
          <a:xfrm>
            <a:off x="981075" y="1657350"/>
            <a:ext cx="10229850" cy="3000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hasDefect: определяем ошибочный BSON-тип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case 8 -&gt; d.requestedSubsidy() instanceof String;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Processor: выбираем правильную заявку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if (!hasDefect(item, source, scenario)) return null;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return expected.get(item.subsidyId());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readSource: сумма из H2 сохраняется в правильном типе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new Decimal128(rs.getBigDecimal("requested_subsidy"))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38633C-2D68-49BA-990F-6F76427B013B}"/>
              </a:ext>
            </a:extLst>
          </p:cNvPr>
          <p:cNvSpPr>
            <a:spLocks noGrp="1"/>
          </p:cNvSpPr>
          <p:nvPr/>
        </p:nvSpPr>
        <p:spPr>
          <a:xfrm>
            <a:off x="714375" y="533400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String "120000.50" заменяется на Decimal128 из H2. Корректный тип отфильтровывается.</a:t>
            </a:r>
          </a:p>
        </p:txBody>
      </p:sp>
    </p:spTree>
    <p:extLst>
      <p:ext uri="{BB962C8B-B14F-4D97-AF65-F5344CB8AC3E}">
        <p14:creationId xmlns:p14="http://schemas.microsoft.com/office/powerpoint/2010/main" val="1377121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64B21A-C6C9-45F4-A59F-9E4014B2D62C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Writer сохраняет BSON, SkipListener — ошибку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90BD01-4911-4FDA-9EA0-577F9455B48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08A493A-C23C-44B7-A0EC-134E36E53FE3}"/>
              </a:ext>
            </a:extLst>
          </p:cNvPr>
          <p:cNvSpPr>
            <a:spLocks noGrp="1"/>
          </p:cNvSpPr>
          <p:nvPr/>
        </p:nvSpPr>
        <p:spPr>
          <a:xfrm>
            <a:off x="714375" y="1333500"/>
            <a:ext cx="10763250" cy="3857625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CD3056-1EA2-48EE-8C26-DD1979252319}"/>
              </a:ext>
            </a:extLst>
          </p:cNvPr>
          <p:cNvSpPr>
            <a:spLocks noGrp="1"/>
          </p:cNvSpPr>
          <p:nvPr/>
        </p:nvSpPr>
        <p:spPr>
          <a:xfrm>
            <a:off x="981075" y="1562100"/>
            <a:ext cx="10229850" cy="3476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ItemWriter&lt;Document&gt; writer = chunk -&gt;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for (Document d : chunk)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    mongo.getCollection(SubsidyApplication.COLLECTION)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        .replaceOne(eq("subsidyId", d.getLong("subsidyId")), d);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void onSkipInProcess(SubsidyApplication item, Throwable t)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Document snapshot = new Document();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mongo.getConverter().write(item, snapshot);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quarantine(mongo, snapshot, t);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FCA3BD-58A4-47D4-8023-EC4696C22536}"/>
              </a:ext>
            </a:extLst>
          </p:cNvPr>
          <p:cNvSpPr>
            <a:spLocks noGrp="1"/>
          </p:cNvSpPr>
          <p:nvPr/>
        </p:nvSpPr>
        <p:spPr>
          <a:xfrm>
            <a:off x="714375" y="5572125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В subsidy_quarantine записываются item и reason. Это действие кода listener.</a:t>
            </a:r>
          </a:p>
        </p:txBody>
      </p:sp>
    </p:spTree>
    <p:extLst>
      <p:ext uri="{BB962C8B-B14F-4D97-AF65-F5344CB8AC3E}">
        <p14:creationId xmlns:p14="http://schemas.microsoft.com/office/powerpoint/2010/main" val="25271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6DD4BD-445A-494E-8912-43FABD8AA751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Spring Boot 3 / Batch 5 и Boot 4 / Batch 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C7A265-6D77-4DD9-B488-BB79384253C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8C0795-8E04-45AB-9A5D-A1F408EA9CE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Платформа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1E59A4-91E7-40A2-888D-1FD5604D4EA8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Boot 3: Spring Framework 6, Batch 5. Boot 4: Framework 7, Batch 6.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E24381-D5F8-45E6-8C34-6451776D81C6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JDBC starter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9394C1-33B1-47CD-B4F3-F1BF21A3ADDF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Boot 3: spring-boot-starter-batch. В нашем Boot 4: spring-boot-starter-batch-jdbc.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CE782C-973E-4A07-89F8-1157190CFDA6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Chunk Step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96A2E2-2BAB-4A3D-975F-4CD0F7FFB674}"/>
              </a:ext>
            </a:extLst>
          </p:cNvPr>
          <p:cNvSpPr>
            <a:spLocks noGrp="1"/>
          </p:cNvSpPr>
          <p:nvPr/>
        </p:nvSpPr>
        <p:spPr>
          <a:xfrm>
            <a:off x="3905250" y="28765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Batch 5: TaskletStep. Новый Batch 6: ChunkOrientedStep.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FE57F1-FFFF-4F12-85A4-67829389A516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Retry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4493A4-ED7A-4811-8B40-727C49177FFD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Batch 5: Spring Retry. Новый Batch 6: retry из Spring Framework 7.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E13369-A2E3-4CD8-8EA7-F24C66CCD0FC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Запуск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900D79-E15E-49C2-94A8-898521A795D8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Batch 5: JobLauncher.run(...). Batch 6: JobOperator.start(Job, JobParameters).</a:t>
            </a:r>
          </a:p>
        </p:txBody>
      </p:sp>
    </p:spTree>
    <p:extLst>
      <p:ext uri="{BB962C8B-B14F-4D97-AF65-F5344CB8AC3E}">
        <p14:creationId xmlns:p14="http://schemas.microsoft.com/office/powerpoint/2010/main" val="1405925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4CC6E0-29D2-4952-8ACD-C5EA1853A8F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Chunk-конфигурация: было в Batch 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9CE9ED-4641-4483-8BB6-394AF2488937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2468F4-8DD6-4DF2-9897-7CB19CC32D3E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3381375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ADB1BE-DCA4-4037-9B8E-D7A1AF6EE791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10229850" cy="3000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new StepBuilder("repairStep", jobRepository)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.&lt;Document, Document&gt;chunk(25, tx)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.reader(reader).processor(processor).writer(writer)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.faultTolerant()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.skipLimit(5).skip(IllegalArgumentException.class)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.listener(skipListener)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.retryLimit(3).retry(RuntimeException.class)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.build();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FC3AE4-BB35-4740-AAA7-779524DAEC08}"/>
              </a:ext>
            </a:extLst>
          </p:cNvPr>
          <p:cNvSpPr>
            <a:spLocks noGrp="1"/>
          </p:cNvSpPr>
          <p:nvPr/>
        </p:nvSpPr>
        <p:spPr>
          <a:xfrm>
            <a:off x="714375" y="533400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chunk(size, tx) → SimpleStepBuilder → TaskletStep</a:t>
            </a:r>
          </a:p>
        </p:txBody>
      </p:sp>
    </p:spTree>
    <p:extLst>
      <p:ext uri="{BB962C8B-B14F-4D97-AF65-F5344CB8AC3E}">
        <p14:creationId xmlns:p14="http://schemas.microsoft.com/office/powerpoint/2010/main" val="760910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1F4105-030D-4A26-9A33-75D24DC686BF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Chunk-конфигурация: стало в Batch 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D65271-8188-4725-8F62-F547F7FBF3BF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84AFED-757B-4174-AEF0-AF05789426C0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7147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FE7860-774B-4454-9EED-A3A612D57BD6}"/>
              </a:ext>
            </a:extLst>
          </p:cNvPr>
          <p:cNvSpPr>
            <a:spLocks noGrp="1"/>
          </p:cNvSpPr>
          <p:nvPr/>
        </p:nvSpPr>
        <p:spPr>
          <a:xfrm>
            <a:off x="981075" y="1657350"/>
            <a:ext cx="1022985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new StepBuilder("repairDefect04Step", jobRepository)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.&lt;SubsidyApplication, Document&gt;chunk(25)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.transactionManager(tx)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.reader(reader).processor(processor).writer(writer)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.skipListener(skipListener)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.faultTolerant()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.skipLimit(5).skip(IllegalArgumentException.class)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.retryLimit(3).retry(RuntimeException.class)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.build();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692CAA-DFF4-496A-BBDA-F1E8D8AB4B9F}"/>
              </a:ext>
            </a:extLst>
          </p:cNvPr>
          <p:cNvSpPr>
            <a:spLocks noGrp="1"/>
          </p:cNvSpPr>
          <p:nvPr/>
        </p:nvSpPr>
        <p:spPr>
          <a:xfrm>
            <a:off x="714375" y="54292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chunk(size) → ChunkOrientedStepBuilder → ChunkOrientedStep</a:t>
            </a:r>
          </a:p>
        </p:txBody>
      </p:sp>
    </p:spTree>
    <p:extLst>
      <p:ext uri="{BB962C8B-B14F-4D97-AF65-F5344CB8AC3E}">
        <p14:creationId xmlns:p14="http://schemas.microsoft.com/office/powerpoint/2010/main" val="119506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BE0C50-9875-465B-9C24-058C940C5A5E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Параметры: имя, типы и транзакция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8F87F3-31BA-4CCE-987F-E139ACFEFDEA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140D40-FE84-4F30-AD87-81E21FEA82CD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"repairDefect04Step"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035E5-CD1A-4B6B-BF72-7CFC7CBA4BEB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Имя шага в метаданных и истории выполнения.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7B1441-4453-4337-A6DA-846C297C81B0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jobRepository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99F294-740E-4C9E-9009-4598A561DA81}"/>
              </a:ext>
            </a:extLst>
          </p:cNvPr>
          <p:cNvSpPr>
            <a:spLocks noGrp="1"/>
          </p:cNvSpPr>
          <p:nvPr/>
        </p:nvSpPr>
        <p:spPr>
          <a:xfrm>
            <a:off x="6048375" y="23622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Сохраняет состояние выполнения Job и Step.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8B4B29-B912-466C-967D-90B36BD6B963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&lt;SubsidyApplication, Document&gt;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6C9AE2-99AF-4EFD-84A5-BC71A5C683A6}"/>
              </a:ext>
            </a:extLst>
          </p:cNvPr>
          <p:cNvSpPr>
            <a:spLocks noGrp="1"/>
          </p:cNvSpPr>
          <p:nvPr/>
        </p:nvSpPr>
        <p:spPr>
          <a:xfrm>
            <a:off x="6048375" y="32004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Первый тип: вход Reader. Второй: результат Processor и вход Writer.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4EA631F-930C-421D-9CFC-5741566E6677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chunk(25)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7F7D07-427C-43AE-9A72-5B8430540F51}"/>
              </a:ext>
            </a:extLst>
          </p:cNvPr>
          <p:cNvSpPr>
            <a:spLocks noGrp="1"/>
          </p:cNvSpPr>
          <p:nvPr/>
        </p:nvSpPr>
        <p:spPr>
          <a:xfrm>
            <a:off x="6048375" y="40386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До 25 входных элементов в порции. Последняя порция может быть меньше.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4D039C7-D46B-4805-8D5D-89D3AF1FB378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transactionManager(tx)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49A6EC3-0BF4-4EAD-AECF-4E52C6576284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Менеджер начинает и завершает транзакцию порции.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F88A3-E779-4486-91F2-45D80BCBA1A2}"/>
              </a:ext>
            </a:extLst>
          </p:cNvPr>
          <p:cNvSpPr>
            <a:spLocks noGrp="1"/>
          </p:cNvSpPr>
          <p:nvPr/>
        </p:nvSpPr>
        <p:spPr>
          <a:xfrm>
            <a:off x="714375" y="590550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В демо JDBC-транзакция не откатывает записи standalone MongoDB.</a:t>
            </a:r>
          </a:p>
        </p:txBody>
      </p:sp>
    </p:spTree>
    <p:extLst>
      <p:ext uri="{BB962C8B-B14F-4D97-AF65-F5344CB8AC3E}">
        <p14:creationId xmlns:p14="http://schemas.microsoft.com/office/powerpoint/2010/main" val="180500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DE7323-D32B-45CD-ADE4-F744CC679BFC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Параметры: чтение, обработка и запись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382D12-E663-400E-B63A-860F1D43B1D8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A058A63-BB2E-466B-BF9E-051DE3BBAB56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reader(reader)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B38375-A55C-4357-ABD1-6062053BEEB9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read() выдаёт один документ. null означает конец входа.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C11AB0-FAD5-4070-BC67-8EE8AD207072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processor(processor)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529FC4-39A3-44EA-872C-ABED460A93C9}"/>
              </a:ext>
            </a:extLst>
          </p:cNvPr>
          <p:cNvSpPr>
            <a:spLocks noGrp="1"/>
          </p:cNvSpPr>
          <p:nvPr/>
        </p:nvSpPr>
        <p:spPr>
          <a:xfrm>
            <a:off x="6048375" y="23622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process(item) проверяет дефект и возвращает исправленный документ.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0559C0-8B7C-4932-9086-7349753F8AC6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return null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E8DCD5-7C6A-4DEE-9751-725E50517359}"/>
              </a:ext>
            </a:extLst>
          </p:cNvPr>
          <p:cNvSpPr>
            <a:spLocks noGrp="1"/>
          </p:cNvSpPr>
          <p:nvPr/>
        </p:nvSpPr>
        <p:spPr>
          <a:xfrm>
            <a:off x="6048375" y="32004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Фильтрация: документ не передаётся Writer. Это не skip ошибки.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1320867-5A05-40D3-B394-5050968F61B2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writer(writer)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325F1C-43E0-4020-B237-6492DC4A9A68}"/>
              </a:ext>
            </a:extLst>
          </p:cNvPr>
          <p:cNvSpPr>
            <a:spLocks noGrp="1"/>
          </p:cNvSpPr>
          <p:nvPr/>
        </p:nvSpPr>
        <p:spPr>
          <a:xfrm>
            <a:off x="6048375" y="40386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write(chunk) получает результаты Processor. Их может быть меньше chunk size.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8C63BC-624E-496F-86ED-4B65C6F8C918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build()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2C2EE2-BD9B-4FFE-8A8C-99AE24F381F8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Создаёт Step. Сам Job этим вызовом ещё не запускается.</a:t>
            </a:r>
          </a:p>
        </p:txBody>
      </p:sp>
    </p:spTree>
    <p:extLst>
      <p:ext uri="{BB962C8B-B14F-4D97-AF65-F5344CB8AC3E}">
        <p14:creationId xmlns:p14="http://schemas.microsoft.com/office/powerpoint/2010/main" val="920489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1082EBF-7973-4426-84C1-9811EB25333D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Параметры: пропуски и quarantine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48235E-3404-424F-958A-1CC81BFD536A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A7CCD7-FA01-4164-90F0-90ED505F4BA1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faultTolerant()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BBFEB3-B0D8-4A27-9CA5-463B91B5DCAC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Включает обработку ошибок с политиками retry и skip.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2D9A03-A855-4D99-8618-9A6E1F6A43E1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skip(IllegalArgumentException.class)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E117DA-E52A-4F87-A3F5-FE6CE930B5B1}"/>
              </a:ext>
            </a:extLst>
          </p:cNvPr>
          <p:cNvSpPr>
            <a:spLocks noGrp="1"/>
          </p:cNvSpPr>
          <p:nvPr/>
        </p:nvSpPr>
        <p:spPr>
          <a:xfrm>
            <a:off x="6048375" y="23622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Разрешает пропуск при этом классе ошибки и его подклассах.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30BF6E-D033-43A6-8140-8ADC10350624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skipLimit(5)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301112-52F8-48B1-8058-F08E931A4598}"/>
              </a:ext>
            </a:extLst>
          </p:cNvPr>
          <p:cNvSpPr>
            <a:spLocks noGrp="1"/>
          </p:cNvSpPr>
          <p:nvPr/>
        </p:nvSpPr>
        <p:spPr>
          <a:xfrm>
            <a:off x="6048375" y="32004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Не более пяти пропусков в Step. Превышение лимита завершает шаг ошибкой.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F154EF-B386-4A37-9FF2-EEF407527E82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skipListener(skipListener)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9AE2C8-1B1A-474F-990F-A6C2FE3EC456}"/>
              </a:ext>
            </a:extLst>
          </p:cNvPr>
          <p:cNvSpPr>
            <a:spLocks noGrp="1"/>
          </p:cNvSpPr>
          <p:nvPr/>
        </p:nvSpPr>
        <p:spPr>
          <a:xfrm>
            <a:off x="6048375" y="40386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Вызывает onSkipInRead / Process / Write при пропуске.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DDC0C6F-D14A-41A0-8CDE-CA743B17039D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quarantine(mongo, item, t)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AB260C3-4257-4802-AAAD-D659B6A4B84D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Код приложения записывает item и reason в subsidy_quarantine.</a:t>
            </a:r>
          </a:p>
        </p:txBody>
      </p:sp>
    </p:spTree>
    <p:extLst>
      <p:ext uri="{BB962C8B-B14F-4D97-AF65-F5344CB8AC3E}">
        <p14:creationId xmlns:p14="http://schemas.microsoft.com/office/powerpoint/2010/main" val="1975798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508381-0DD0-402F-BBBF-7EBD4ADE2202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Параметры: повторы при ошибке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61E841-4BCD-428D-973F-A8B0B0B78BF4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BE7E99A-D8A0-41BD-8A08-8FFC9604A7CF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retry(RuntimeException.class)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413993-4A9A-4B8F-83CF-3D64E3879615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 текущем демо разрешены повторы RuntimeException и подклассов.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1175D7-14B1-48AC-8B78-81B39E2794BF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retryLimit(3) в Batch 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F6EF4F-30A3-474F-A1B6-E78E6AD45086}"/>
              </a:ext>
            </a:extLst>
          </p:cNvPr>
          <p:cNvSpPr>
            <a:spLocks noGrp="1"/>
          </p:cNvSpPr>
          <p:nvPr/>
        </p:nvSpPr>
        <p:spPr>
          <a:xfrm>
            <a:off x="6048375" y="23622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До трёх повторов после исходной попытки: максимум четыре попытки.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E416B9-BC88-47F0-B550-10A1761F8434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retryLimit(3) в Batch 5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95CFA4-923F-44AD-B81B-3114399BEF63}"/>
              </a:ext>
            </a:extLst>
          </p:cNvPr>
          <p:cNvSpPr>
            <a:spLocks noGrp="1"/>
          </p:cNvSpPr>
          <p:nvPr/>
        </p:nvSpPr>
        <p:spPr>
          <a:xfrm>
            <a:off x="6048375" y="32004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Старый builder считал исходную попытку: максимум три попытки.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0EDCE06-93B0-4BEB-91E0-3BF3656B0B24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scenario == 4 || scenario == 5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CFDB068-D0B7-49DC-85B3-22594757D41C}"/>
              </a:ext>
            </a:extLst>
          </p:cNvPr>
          <p:cNvSpPr>
            <a:spLocks noGrp="1"/>
          </p:cNvSpPr>
          <p:nvPr/>
        </p:nvSpPr>
        <p:spPr>
          <a:xfrm>
            <a:off x="6048375" y="40386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Денежные кейсы: лимит 3. Остальные кейсы: лимит 1.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ED977B-8ED2-412C-84B3-D988FB83CA87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retryPolicy(...)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0A2119-EC99-40A3-A5C5-73DDB98004F0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Альтернатива коротким настройкам: своя политика Spring Framework 7.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6088346-1CE1-44C3-925D-B8D83BDA1AC2}"/>
              </a:ext>
            </a:extLst>
          </p:cNvPr>
          <p:cNvSpPr>
            <a:spLocks noGrp="1"/>
          </p:cNvSpPr>
          <p:nvPr/>
        </p:nvSpPr>
        <p:spPr>
          <a:xfrm>
            <a:off x="714375" y="590550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В рабочем сервисе retry обычно ограничивают временными ошибками доступа к данным.</a:t>
            </a:r>
          </a:p>
        </p:txBody>
      </p:sp>
    </p:spTree>
    <p:extLst>
      <p:ext uri="{BB962C8B-B14F-4D97-AF65-F5344CB8AC3E}">
        <p14:creationId xmlns:p14="http://schemas.microsoft.com/office/powerpoint/2010/main" val="1085361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CD4301-F6F7-474A-AE80-1B38207F0799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JobBuilder сохранился, изменился Step builder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FCC4782-2119-4CB3-A8E7-A9AB1D00C928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4EEFA17-E603-4900-BA7E-D86591560ED5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3337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C9CC94-3A3D-4F6D-8CB6-79D3D7AD53F9}"/>
              </a:ext>
            </a:extLst>
          </p:cNvPr>
          <p:cNvSpPr>
            <a:spLocks noGrp="1"/>
          </p:cNvSpPr>
          <p:nvPr/>
        </p:nvSpPr>
        <p:spPr>
          <a:xfrm>
            <a:off x="981075" y="1657350"/>
            <a:ext cx="10229850" cy="2952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new JobBuilder("repairDefect04Job", jobRepository)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.start(repairDefect04Step) // SimpleJobBuilder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.build();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Batch 6: имя также можно получить из имени @Bean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new JobBuilder(jobRepository)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.start(repairDefect04Step)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.build();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02FBA9-E078-4FBF-8776-65F5A37164F6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SimpleJobBuilder строит Job. SimpleStepBuilder — старый builder chunk-шага.</a:t>
            </a:r>
          </a:p>
        </p:txBody>
      </p:sp>
    </p:spTree>
    <p:extLst>
      <p:ext uri="{BB962C8B-B14F-4D97-AF65-F5344CB8AC3E}">
        <p14:creationId xmlns:p14="http://schemas.microsoft.com/office/powerpoint/2010/main" val="677251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919430-5299-4556-A68B-E0852D874EFB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Импорты и запуск при переходе на Batch 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A76A04-2ADC-4550-B83A-989237B5A64B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068C3B-E7D1-4A6C-AF2E-7DB48ACB7C58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core.Job → core.job.Job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EF24F3-6081-4C0C-B665-296D5B7CC53A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Доменный класс Job переехал в подпакет job.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E9977E-5325-4551-AA89-9DD73B5086DC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core.Step → core.step.Step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694CE5-8E29-4214-8DF5-DA39822C51BF}"/>
              </a:ext>
            </a:extLst>
          </p:cNvPr>
          <p:cNvSpPr>
            <a:spLocks noGrp="1"/>
          </p:cNvSpPr>
          <p:nvPr/>
        </p:nvSpPr>
        <p:spPr>
          <a:xfrm>
            <a:off x="6048375" y="23622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Step переехал в подпакет step.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695233-8610-4E7E-8C07-73B597C58248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item.* → infrastructure.item.*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33710D-7293-429D-B3F8-D6327579BB62}"/>
              </a:ext>
            </a:extLst>
          </p:cNvPr>
          <p:cNvSpPr>
            <a:spLocks noGrp="1"/>
          </p:cNvSpPr>
          <p:nvPr/>
        </p:nvSpPr>
        <p:spPr>
          <a:xfrm>
            <a:off x="6048375" y="32004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Новый пакет для ItemReader, ItemProcessor, ItemWriter.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5BE956-4868-4A7F-840F-559B0441273E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jobOperator.start(job, parameters)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392A6F-5123-40AD-9C22-C76AC14EDE6E}"/>
              </a:ext>
            </a:extLst>
          </p:cNvPr>
          <p:cNvSpPr>
            <a:spLocks noGrp="1"/>
          </p:cNvSpPr>
          <p:nvPr/>
        </p:nvSpPr>
        <p:spPr>
          <a:xfrm>
            <a:off x="6048375" y="40386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Передаём объект Job и типизированные JobParameters.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8AB462-C9E0-424A-94FE-8AFD770C66B5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2F6F7E"/>
                </a:solidFill>
                <a:latin typeface="Consolas"/>
                <a:ea typeface="Consolas"/>
                <a:cs typeface="Consolas"/>
              </a:rPr>
              <a:t>start(String, Properties)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244E07F-1437-46BC-8FD9-452B4C5C1ADD}"/>
              </a:ext>
            </a:extLst>
          </p:cNvPr>
          <p:cNvSpPr>
            <a:spLocks noGrp="1"/>
          </p:cNvSpPr>
          <p:nvPr/>
        </p:nvSpPr>
        <p:spPr>
          <a:xfrm>
            <a:off x="6048375" y="487680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Старый overload deprecated. В контроллере выбираем Job из Map&lt;String, Job&gt;.</a:t>
            </a:r>
          </a:p>
        </p:txBody>
      </p:sp>
    </p:spTree>
    <p:extLst>
      <p:ext uri="{BB962C8B-B14F-4D97-AF65-F5344CB8AC3E}">
        <p14:creationId xmlns:p14="http://schemas.microsoft.com/office/powerpoint/2010/main" val="1156455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4F1244-40C5-423E-905B-4845CF0169AB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Новый запуск и restart после сбоя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82154AE-38E5-490E-9150-AC8EE06694DF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6AD067-1B2C-4479-A60F-D3BAFC5CADB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Новый запуск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9BA37B-81A0-457E-8601-972388C33D22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Новый runId создаёт JobInstance. Reader читает текущие данные с начала.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AEB7F1-B2C8-4272-8D71-7C2F17C6BBBF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Restart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628AF8-19C7-4FEB-A60C-FD164C22E988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JobOperator.restart(previous) создаёт новую попытку того же JobInstance.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5659D7-40CC-4B21-927B-1FAE62DAD0B5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Точка продолжения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8DD3F7-2595-4562-B4B1-8C0FF9F58F54}"/>
              </a:ext>
            </a:extLst>
          </p:cNvPr>
          <p:cNvSpPr>
            <a:spLocks noGrp="1"/>
          </p:cNvSpPr>
          <p:nvPr/>
        </p:nvSpPr>
        <p:spPr>
          <a:xfrm>
            <a:off x="3905250" y="28765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Reader берёт последний зафиксированный subsidyId из ExecutionContext.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84712B-BAA1-4DE8-9612-A314F0C41A86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Допустимый статус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3B3BBD1-3322-449D-8C7F-7BC2D159FD7A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HTTP restart принимает FAILED или STOPPED. Завершённый Job даёт 409.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716BF6D-473F-46AF-9A7F-74452CA00C5C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Embedded базы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4FD966-1EE7-4DE2-A54A-686FCDEB5EEC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История доступна до перезапуска приложения. Потом базы создаются заново.</a:t>
            </a:r>
          </a:p>
        </p:txBody>
      </p:sp>
    </p:spTree>
    <p:extLst>
      <p:ext uri="{BB962C8B-B14F-4D97-AF65-F5344CB8AC3E}">
        <p14:creationId xmlns:p14="http://schemas.microsoft.com/office/powerpoint/2010/main" val="744181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F92F8CD-CD39-4696-9C23-688748E8F43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@StepScope: отдельное состояние каждой попытки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EDBF45-817A-4D4C-98B6-C942966F7A6D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73FFD2-B7E5-4BAE-AAFD-52A41A7CBC0A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10763250" cy="342900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AC2862-DA8D-42D5-A638-089DD652A401}"/>
              </a:ext>
            </a:extLst>
          </p:cNvPr>
          <p:cNvSpPr>
            <a:spLocks noGrp="1"/>
          </p:cNvSpPr>
          <p:nvPr/>
        </p:nvSpPr>
        <p:spPr>
          <a:xfrm>
            <a:off x="981075" y="1609725"/>
            <a:ext cx="10229850" cy="3048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@Bean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@StepScope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static SubsidyApplicationReader subsidyReader(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MongoTemplate mongo,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@Value("#{stepExecution.stepName}") String stepName)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return new SubsidyApplicationReader(mongo, scenario(stepName));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В Step builder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.reader(reader).processor(defectProcessor).writer(writer)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D2A80EB-CACC-48E9-81BF-FE9B011CB9A6}"/>
              </a:ext>
            </a:extLst>
          </p:cNvPr>
          <p:cNvSpPr>
            <a:spLocks noGrp="1"/>
          </p:cNvSpPr>
          <p:nvPr/>
        </p:nvSpPr>
        <p:spPr>
          <a:xfrm>
            <a:off x="714375" y="52387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Mongo читается в open() после seed. Эталоны H2 загружаются в Processor для каждой попытки.</a:t>
            </a:r>
          </a:p>
        </p:txBody>
      </p:sp>
    </p:spTree>
    <p:extLst>
      <p:ext uri="{BB962C8B-B14F-4D97-AF65-F5344CB8AC3E}">
        <p14:creationId xmlns:p14="http://schemas.microsoft.com/office/powerpoint/2010/main" val="1918086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796A73-F5EC-4B19-B26F-99BDD02BF11F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ItemStreamReader: восстановление checkpoint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B176FA-5936-4787-931F-3E18AEFE6F5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FC4B52-F081-42F7-80F4-BB231B0C82F7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10763250" cy="371475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9F01B1-23A0-4247-ACAB-A718264526F3}"/>
              </a:ext>
            </a:extLst>
          </p:cNvPr>
          <p:cNvSpPr>
            <a:spLocks noGrp="1"/>
          </p:cNvSpPr>
          <p:nvPr/>
        </p:nvSpPr>
        <p:spPr>
          <a:xfrm>
            <a:off x="981075" y="1609725"/>
            <a:ext cx="1022985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void open(ExecutionContext context)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lastId = context.getLong(CHECKPOINT, 0L);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Query query = Query.query(Criteria.where("subsidyId")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    .gt(lastId).mod(100, scenario))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    .with(Sort.by("subsidyId"));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items = mongo.find(query, SubsidyApplication.class).iterator();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public void update(ExecutionContext context) {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    context.putLong(CHECKPOINT, lastId);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13DEE2-C663-420C-BF92-A2DF93A252A8}"/>
              </a:ext>
            </a:extLst>
          </p:cNvPr>
          <p:cNvSpPr>
            <a:spLocks noGrp="1"/>
          </p:cNvSpPr>
          <p:nvPr/>
        </p:nvSpPr>
        <p:spPr>
          <a:xfrm>
            <a:off x="714375" y="542925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read() двигает lastId. Batch сохраняет update() вместе с успешной JDBC-транзакцией порции.</a:t>
            </a:r>
          </a:p>
        </p:txBody>
      </p:sp>
    </p:spTree>
    <p:extLst>
      <p:ext uri="{BB962C8B-B14F-4D97-AF65-F5344CB8AC3E}">
        <p14:creationId xmlns:p14="http://schemas.microsoft.com/office/powerpoint/2010/main" val="1282722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1F6CB8-819D-47BF-AB8D-FB951532AA1C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Restart через HTTP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3D9E6D-F19A-4919-AEE1-B2A1FA757932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32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0B08BF-9BF5-458F-823A-0EB5583E95CB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3238500"/>
          </a:xfrm>
          <a:prstGeom prst="rect">
            <a:avLst/>
          </a:prstGeom>
          <a:solidFill>
            <a:srgbClr val="202629"/>
          </a:solidFill>
          <a:ln w="9525">
            <a:solidFill>
              <a:srgbClr val="202629"/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23857A-8DF3-465E-824D-47FAAC6D6804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1022985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Продолжить FAILED / STOPPED выполнение с ID 1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curl.exe -X POST http://localhost:8081/api/batch/executions/1/restart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В контроллере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JobExecution previous = jobRepository.getJobExecution(executionId);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JobExecution next = jobOperator.restart(previous);</a:t>
            </a:r>
          </a:p>
          <a:p>
            <a:endParaRPr sz="1650" b="0" i="0">
              <a:solidFill>
                <a:srgbClr val="F4F4F4"/>
              </a:solidFill>
              <a:latin typeface="Consolas"/>
              <a:ea typeface="Consolas"/>
              <a:cs typeface="Consolas"/>
            </a:endParaRP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// Посмотреть результат новой попытки</a:t>
            </a:r>
          </a:p>
          <a:p>
            <a:pPr>
              <a:def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curl.exe http://localhost:8081/api/batch/executions/2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5225657-3487-4422-B451-8208429E1060}"/>
              </a:ext>
            </a:extLst>
          </p:cNvPr>
          <p:cNvSpPr>
            <a:spLocks noGrp="1"/>
          </p:cNvSpPr>
          <p:nvPr/>
        </p:nvSpPr>
        <p:spPr>
          <a:xfrm>
            <a:off x="714375" y="52387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B8DCE4"/>
                </a:solidFill>
                <a:latin typeface="Georgia"/>
                <a:ea typeface="Georgia"/>
                <a:cs typeface="Georgia"/>
              </a:rPr>
              <a:t>Подставьте ID из ответа. Неизвестный ID: 404. Неподходящий статус: 409.</a:t>
            </a:r>
          </a:p>
        </p:txBody>
      </p:sp>
    </p:spTree>
    <p:extLst>
      <p:ext uri="{BB962C8B-B14F-4D97-AF65-F5344CB8AC3E}">
        <p14:creationId xmlns:p14="http://schemas.microsoft.com/office/powerpoint/2010/main" val="753944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478DEE6-C543-4086-BF1B-914E1518164D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MongoDB и JDBC: что происходит при сбое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4311AE-A2D5-4986-A8B2-D0384DEB223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33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E1DDB3-E6C7-4294-8C03-B43680E3C60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1. Первая порция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0FF388-4686-4A51-B6D6-AC2FF6A1F89D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10 документов исправлены, checkpoint = 908 сохранён в H2.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1553248-D80F-4851-B59A-F8D625663D77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2. Вторая порция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F0D5FF-AE16-4145-BA4A-EA900C128728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Mongo уже записала 1008 и 1108, но затем Writer сообщил об ошибке.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49A2821-1C7B-47AD-8913-9EBA430EC92B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3. JDBC rollback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31C7C1-5CED-456A-9F66-88DD06EC559A}"/>
              </a:ext>
            </a:extLst>
          </p:cNvPr>
          <p:cNvSpPr>
            <a:spLocks noGrp="1"/>
          </p:cNvSpPr>
          <p:nvPr/>
        </p:nvSpPr>
        <p:spPr>
          <a:xfrm>
            <a:off x="3905250" y="28765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Сохранённый checkpoint остаётся 908. Mongo-записи не откатываются.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475A3BD-D0FD-4980-A895-E61FC245AC68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4. Restart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46310B5-5226-4878-82CB-438AF10D79A1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Reader читает пять документов с ID &gt; 908.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CC635ED-4549-4654-95C2-1A4CF683C672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5. Processor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33B0C7A-5DC4-4420-B41A-0695DF1814E1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Уже исправленные документы фильтруются. Оставшиеся записываются.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247005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7919100-6D83-40B5-827E-C6A93CFC7823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Проверки новых запусков и восстановления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80FB6-DE77-4BDB-AA81-3B434D4A726F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34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1DB6B5C-3055-4819-B727-4AE971DF1E2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Все восемь Job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7C634E-F29E-4C4E-A73C-D99E78A4001A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Первый запуск: readCount = 15, writeCount = 15 для каждого кейса.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C64197-1B7C-4AB0-8CAC-5589A02B58D0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Второй запуск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892A59-32D4-4498-A3FE-12B40FBC1976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readCount = 15, writeCount = 0, filterCount = 15.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340BE57-5393-40AC-AD36-93732A77A874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После сбоя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41293E-774D-4AEC-9E3C-372BE02840D6}"/>
              </a:ext>
            </a:extLst>
          </p:cNvPr>
          <p:cNvSpPr>
            <a:spLocks noGrp="1"/>
          </p:cNvSpPr>
          <p:nvPr/>
        </p:nvSpPr>
        <p:spPr>
          <a:xfrm>
            <a:off x="3905250" y="28765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FAILED → COMPLETED, тот же JobInstance и новый JobExecution.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0720D6-7662-4E0B-9FB5-70E2AEBB70EF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Checkpoint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8643504-BAE8-4712-B705-9AC6BBB98E67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908 после первого chunk, restart читает оставшиеся пять документов.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82F42E1-D939-4422-BBF7-1E0F87497BCB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Итог данных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26AE08C-34D4-4AE9-AB34-DE0058A7E3DD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Все исправленные документы совпадают с H2, количество остаётся 1500.</a:t>
            </a:r>
          </a:p>
        </p:txBody>
      </p:sp>
    </p:spTree>
    <p:extLst>
      <p:ext uri="{BB962C8B-B14F-4D97-AF65-F5344CB8AC3E}">
        <p14:creationId xmlns:p14="http://schemas.microsoft.com/office/powerpoint/2010/main" val="1245253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26F5DC-184E-47EE-AC40-DCC6966B5477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Условия безопасного продолжения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35EFD9-DDA3-4435-B7D1-1AC9C964AB76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555555"/>
                </a:solidFill>
                <a:latin typeface="Georgia"/>
                <a:ea typeface="Georgia"/>
                <a:cs typeface="Georgia"/>
              </a:rPr>
              <a:t>35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58FECB-7918-4332-8939-3FB9C5ADF41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Стабильные ключи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641F01-B6A9-4473-8734-4445AFAAE46F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subsidyId уникален и не меняется между попытками.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AB4599-ACBA-4B44-B333-754A6E0B7E15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Стабильный источник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80C9F2-0291-42BD-9897-9E96C278F13F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Эталон H2 не меняется во время restart.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56BECB-72C8-40CC-9C56-E7B3AA56E3E5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Новые данные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E1B306-AE30-4D72-8F36-12D57B26209B}"/>
              </a:ext>
            </a:extLst>
          </p:cNvPr>
          <p:cNvSpPr>
            <a:spLocks noGrp="1"/>
          </p:cNvSpPr>
          <p:nvPr/>
        </p:nvSpPr>
        <p:spPr>
          <a:xfrm>
            <a:off x="3905250" y="28765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Документы ниже checkpoint обрабатываются новым запуском с начала.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CF19C2-207F-4EDC-8D7E-DB20C6F23371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Повтор записи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8C589C-6E36-40BD-8A4C-4DF561142F81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replaceOne по стабильному ключу допускает повторное применение эталона.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18C5A6D-E3E8-488E-9FBC-018F6488EDB4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F6F7E"/>
                </a:solidFill>
                <a:latin typeface="Georgia"/>
                <a:ea typeface="Georgia"/>
                <a:cs typeface="Georgia"/>
              </a:rPr>
              <a:t>Память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16C1FE-85D4-40F5-ABB8-8759737DA0E1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Небольшой набор сценария читается в память. Для больших объёмов нужна пагинация.</a:t>
            </a:r>
          </a:p>
        </p:txBody>
      </p:sp>
    </p:spTree>
    <p:extLst>
      <p:ext uri="{BB962C8B-B14F-4D97-AF65-F5344CB8AC3E}">
        <p14:creationId xmlns:p14="http://schemas.microsoft.com/office/powerpoint/2010/main" val="10058872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3898</Words>
  <Application>Microsoft Office PowerPoint</Application>
  <DocSecurity>0</DocSecurity>
  <PresentationFormat>Широкоэкранный</PresentationFormat>
  <Paragraphs>572</Paragraphs>
  <Slides>36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Consolas</vt:lpstr>
      <vt:lpstr>Georgia</vt:lpstr>
      <vt:lpstr>ChatGPT</vt:lpstr>
      <vt:lpstr>Презентация PowerPoint</vt:lpstr>
      <vt:lpstr>Инструменты для реализации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Петр Сумкин</cp:lastModifiedBy>
  <cp:revision>2</cp:revision>
  <dcterms:created xsi:type="dcterms:W3CDTF">2026-09-21T08:30:19Z</dcterms:created>
  <dcterms:modified xsi:type="dcterms:W3CDTF">2026-09-24T19:47:48Z</dcterms:modified>
</cp:coreProperties>
</file>